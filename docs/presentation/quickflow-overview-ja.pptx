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46e0b7a6c64e57" /><Relationship Type="http://schemas.openxmlformats.org/officeDocument/2006/relationships/extended-properties" Target="/docProps/app.xml" Id="R81cb8a854a4545a2" /><Relationship Type="http://schemas.openxmlformats.org/officeDocument/2006/relationships/officeDocument" Target="/ppt/presentation.xml" Id="R70eaead67f8e45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231acfccfe4099"/>
  </p:sldMasterIdLst>
  <p:notesMasterIdLst>
    <p:notesMasterId xmlns:r="http://schemas.openxmlformats.org/officeDocument/2006/relationships" r:id="R4fe84b0a254142b8"/>
  </p:notesMasterIdLst>
  <p:sldIdLst>
    <p:sldId xmlns:r="http://schemas.openxmlformats.org/officeDocument/2006/relationships" id="256" r:id="R77fbf204b0894984"/>
    <p:sldId xmlns:r="http://schemas.openxmlformats.org/officeDocument/2006/relationships" id="257" r:id="Ra9723365aef6466a"/>
    <p:sldId xmlns:r="http://schemas.openxmlformats.org/officeDocument/2006/relationships" id="258" r:id="Rdbf632da17b948c7"/>
    <p:sldId xmlns:r="http://schemas.openxmlformats.org/officeDocument/2006/relationships" id="259" r:id="R747be4f329dd4f6b"/>
    <p:sldId xmlns:r="http://schemas.openxmlformats.org/officeDocument/2006/relationships" id="260" r:id="R6a637aeac0654b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1fd51f2adf4a9f" /><Relationship Type="http://schemas.openxmlformats.org/officeDocument/2006/relationships/slideMaster" Target="/ppt/slideMasters/slideMaster1.xml" Id="Rc4231acfccfe4099" /><Relationship Type="http://schemas.openxmlformats.org/officeDocument/2006/relationships/notesMaster" Target="/ppt/notesMasters/notesMaster1.xml" Id="R4fe84b0a254142b8" /><Relationship Type="http://schemas.openxmlformats.org/officeDocument/2006/relationships/presProps" Target="/ppt/presProps.xml" Id="R963ddf68439e4601" /><Relationship Type="http://schemas.openxmlformats.org/officeDocument/2006/relationships/tableStyles" Target="/ppt/tableStyles.xml" Id="Rf008262735864bba" /><Relationship Type="http://schemas.openxmlformats.org/officeDocument/2006/relationships/slide" Target="/ppt/slides/slide1.xml" Id="R77fbf204b0894984" /><Relationship Type="http://schemas.openxmlformats.org/officeDocument/2006/relationships/slide" Target="/ppt/slides/slide2.xml" Id="Ra9723365aef6466a" /><Relationship Type="http://schemas.openxmlformats.org/officeDocument/2006/relationships/slide" Target="/ppt/slides/slide3.xml" Id="Rdbf632da17b948c7" /><Relationship Type="http://schemas.openxmlformats.org/officeDocument/2006/relationships/slide" Target="/ppt/slides/slide4.xml" Id="R747be4f329dd4f6b" /><Relationship Type="http://schemas.openxmlformats.org/officeDocument/2006/relationships/slide" Target="/ppt/slides/slide5.xml" Id="R6a637aeac0654b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3f3cb6511a41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157c4677b4b0a" /><Relationship Type="http://schemas.openxmlformats.org/officeDocument/2006/relationships/notesMaster" Target="/ppt/notesMasters/notesMaster1.xml" Id="Ra11eb5940e70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f2e0c90b674b0e" /><Relationship Type="http://schemas.openxmlformats.org/officeDocument/2006/relationships/notesMaster" Target="/ppt/notesMasters/notesMaster1.xml" Id="Rad6f73d0a59d4b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4d9dc7841b4e74" /><Relationship Type="http://schemas.openxmlformats.org/officeDocument/2006/relationships/notesMaster" Target="/ppt/notesMasters/notesMaster1.xml" Id="R967b6555a1bf46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38607ef7f74b49" /><Relationship Type="http://schemas.openxmlformats.org/officeDocument/2006/relationships/notesMaster" Target="/ppt/notesMasters/notesMaster1.xml" Id="R90df07408a7843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58ff2b29674b17" /><Relationship Type="http://schemas.openxmlformats.org/officeDocument/2006/relationships/notesMaster" Target="/ppt/notesMasters/notesMaster1.xml" Id="R7c694ef8c1c842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25秒】QuickFlowは、小テストの配信から採点結果の確認、成績出力までを扱うアプリです。教師の作業をつなぎ、手間を減らすことを目指しています。ただし、時間短縮や学校での効果を測定したものではありません。今回は架空データによる操作例をご紹介します。</a:t>
            </a:r>
          </a:p>
          <a:p xmlns:a="http://schemas.openxmlformats.org/drawingml/2006/main">
            <a:r>
              <a:t>出典: quickflow-issue99-workflow-evidence.zip v3, VERIFIED-FLOWS.txt・操作ガイド草案.txt。検証SHA: 02a823714eb5d627927318ddf544215117b6a38a。アプリコード9704b30と対象ファイル差分なし。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40秒】教師は教材PDFと配信先を選びます。提出後は答案とAIの読み取り、判定を確認し、必要な問題を訂正して保存します。既存の操作検証では訂正後の5点が生徒画面とExcelに反映されました。この画面は別の標準Chromeでの手動表示確認です。既知の架空PDFを直接準備して、教師の答案詳細で表示しました。配信や採点の再検証ではありません。</a:t>
            </a:r>
          </a:p>
          <a:p xmlns:a="http://schemas.openxmlformats.org/drawingml/2006/main">
            <a:r>
              <a:t>出典: quickflow-issue99-workflow-evidence.zip v3（2026-10-23）, VERIFIED-FLOWS.txt, teacher-pdf-verification.json, 画像12。検証SHA: 02a823714eb5d627927318ddf544215117b6a38a。アプリコード9704b30と対象ファイル差分なし。PDF応答200、application/pdf、inline、4698 bytes。応答SHA256は既存fixtureと同一。1ページ目の黒い矩形と斜線が参照画像と一致。全ページの全内容、他ブラウザ、本番環境は未確認。旧画像05は歴史的な空のheadless captureで原因未解明。実AIは呼び出していない。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40秒】生徒はPDFにペンで記入し、消しゴムも使えます。保存した筆記は再読み込み後も復元します。通信エラー時は保存状態を確認し、再試行します。提出後は結果を確認できます。右は教師の訂正後の5点を表示する例です。左の線やPDF内の図形はテスト用で、実際の生徒の答案ではありません。</a:t>
            </a:r>
          </a:p>
          <a:p xmlns:a="http://schemas.openxmlformats.org/drawingml/2006/main">
            <a:r>
              <a:t>出典: quickflow-issue99-workflow-evidence.zip v3, VERIFIED-FLOWS.txt・操作ガイド草案.txt。検証SHA: 02a823714eb5d627927318ddf544215117b6a38a。アプリコード9704b30と対象ファイル差分なし。 画像02・03。保存、復元、未保存時の確認、複数ページ提出は既存検証の範囲。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35秒】RubyとRailsのアプリで、PostgreSQLを利用します。PDFを検証し、処理に制限を設けています。OpenAIとの連携がありますが、今回の操作検証は外部AIの境界だけをテスト用応答に置き換えています。実際のAIサービスの精度や通信品質を検証したものではありません。権限外アクセスや重複提出などは、記載のケースを確認しました。</a:t>
            </a:r>
          </a:p>
          <a:p xmlns:a="http://schemas.openxmlformats.org/drawingml/2006/main">
            <a:r>
              <a:t>出典: quickflow-issue99-workflow-evidence.zip v3, VERIFIED-FLOWS.txt・操作ガイド草案.txt。検証SHA: 02a823714eb5d627927318ddf544215117b6a38a。アプリコード9704b30と対象ファイル差分なし。 環境記録: Ruby 4.0.6、Rails 8.1.4、PostgreSQL 18.6。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40秒】自動検証で成功した14例は変わりません。CI2034例・失敗0は別途の既報です。追加の標準ブラウザによる手動確認では、管理者の出席番号変更と削除、取消の動作を確認しました。ただし、失敗したSeleniumの原因は未解明で、自動検証が成功したわけではありません。実AIや本番運用、学校での適合性は未検証です。教師PDF表示の確認も、既知の架空資料と標準Chromeの一例に限ります。</a:t>
            </a:r>
          </a:p>
          <a:p xmlns:a="http://schemas.openxmlformats.org/drawingml/2006/main">
            <a:r>
              <a:t>出典: quickflow-issue99-workflow-evidence.zip v3（2026-10-23）, VERIFIED-FLOWS.txt, manual-admin-verification.json, teacher-pdf-verification.json。SHA 02a823714eb5d627927318ddf544215117b6a38a。手動管理者確認: プレビューでDB不変、確定で出席番号1から3、取消で対象保持、最終確定で架空生徒1人のみ削除。PATCH1回・DELETE1回、各303、他レコード保持。Selenium -32000は原因未解明のまま。自動検証17実行中14成功、3失敗の履歴保持。CI 39881045679 / 2034例は親タスク提供の既報で再実行していない。実AI精度・通信・本番・他ブラウザ・PDF全ページの視覚的正確性は未検証。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641be8a6d45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f5dce0a7c48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a4f707ee447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3249e626443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c790289fe43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465b0058c48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4221A4-4707-4857-91B1-83ED68C7CD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B21684-141A-4966-867B-989EEE9C94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E6DDA6-3DEF-43D6-801B-E98BB6FDC0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D05F8A-C1BC-46C2-92DA-D5F353910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ACF4EA-3E6B-4085-9E71-2D8C3BFF8B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8E1088-6C3F-4D70-9D56-E573B55F1F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40D371-6A4A-4A9F-BD66-4EB75944FC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7B2070-9D01-41FF-8687-D07F9168DE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F949AD-1EBF-45FD-A30F-53378375E5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E744DD-7579-4F72-9FE7-FA50028CE6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31b13d6114373" /><Relationship Type="http://schemas.openxmlformats.org/officeDocument/2006/relationships/slideLayout" Target="/ppt/slideLayouts/slideLayout1.xml" Id="R0dc8d50beeaa428f" /><Relationship Type="http://schemas.openxmlformats.org/officeDocument/2006/relationships/slideLayout" Target="/ppt/slideLayouts/slideLayout2.xml" Id="Rbc63b857682a45d4" /><Relationship Type="http://schemas.openxmlformats.org/officeDocument/2006/relationships/slideLayout" Target="/ppt/slideLayouts/slideLayout3.xml" Id="R9a0e8e6ad9154483" /><Relationship Type="http://schemas.openxmlformats.org/officeDocument/2006/relationships/slideLayout" Target="/ppt/slideLayouts/slideLayout4.xml" Id="R1a3113c71b6e4909" /><Relationship Type="http://schemas.openxmlformats.org/officeDocument/2006/relationships/slideLayout" Target="/ppt/slideLayouts/slideLayout5.xml" Id="R5eb825584f874041" /><Relationship Type="http://schemas.openxmlformats.org/officeDocument/2006/relationships/slideLayout" Target="/ppt/slideLayouts/slideLayout6.xml" Id="R272a12be965f40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c8d50beeaa428f"/>
    <p:sldLayoutId xmlns:r="http://schemas.openxmlformats.org/officeDocument/2006/relationships" id="2147483650" r:id="Rbc63b857682a45d4"/>
    <p:sldLayoutId xmlns:r="http://schemas.openxmlformats.org/officeDocument/2006/relationships" id="2147483651" r:id="R9a0e8e6ad9154483"/>
    <p:sldLayoutId xmlns:r="http://schemas.openxmlformats.org/officeDocument/2006/relationships" id="2147483652" r:id="R1a3113c71b6e4909"/>
    <p:sldLayoutId xmlns:r="http://schemas.openxmlformats.org/officeDocument/2006/relationships" id="2147483653" r:id="R5eb825584f874041"/>
    <p:sldLayoutId xmlns:r="http://schemas.openxmlformats.org/officeDocument/2006/relationships" id="2147483654" r:id="R272a12be965f40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5747c30cfd4bcf" /><Relationship Type="http://schemas.openxmlformats.org/officeDocument/2006/relationships/notesSlide" Target="/ppt/notesSlides/notesSlide1.xml" Id="R3a24994767bc46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02c103cf6489f" /><Relationship Type="http://schemas.openxmlformats.org/officeDocument/2006/relationships/image" Target="/ppt/media/image.jpeg" Id="Rc7a3f91bf90745d7" /><Relationship Type="http://schemas.openxmlformats.org/officeDocument/2006/relationships/notesSlide" Target="/ppt/notesSlides/notesSlide2.xml" Id="R62c736bb36f1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ff2e218414064" /><Relationship Type="http://schemas.openxmlformats.org/officeDocument/2006/relationships/image" Target="/ppt/media/image.png" Id="R0d35cae749274661" /><Relationship Type="http://schemas.openxmlformats.org/officeDocument/2006/relationships/image" Target="/ppt/media/image2.png" Id="R9567ef3ae76942e9" /><Relationship Type="http://schemas.openxmlformats.org/officeDocument/2006/relationships/notesSlide" Target="/ppt/notesSlides/notesSlide3.xml" Id="R0424d11c5d384e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c31faf580422a" /><Relationship Type="http://schemas.openxmlformats.org/officeDocument/2006/relationships/notesSlide" Target="/ppt/notesSlides/notesSlide4.xml" Id="R7800a9cfa94848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0e8f842d6409b" /><Relationship Type="http://schemas.openxmlformats.org/officeDocument/2006/relationships/notesSlide" Target="/ppt/notesSlides/notesSlide5.xml" Id="R242a6e4534ce44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29720-0636-46B3-9C0F-D084B583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QuickFlow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33BD0-B077-4486-A245-2BD8783E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小テストの配信・採点確認・成績出力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503B1-1FDC-4457-83F9-FF7E8318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架空データによる操作例 ／ 2026年10月23日 ／ 証拠v3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BB7CE-42F0-44F9-859B-56D2522E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0ED1A-E519-4FF0-8A91-189A3D55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61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1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QuickFlow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5AFBC-646A-4828-85D9-A3A3B33D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教師の小テスト業務を、ひとつの流れに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37181-A547-48BA-8864-620D96A9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教材PDFの配信、答案の確認、成績表への転記。</a:t>
            </a:r>
          </a:p>
          <a:p xmlns:a="http://schemas.openxmlformats.org/drawingml/2006/main">
            <a:pPr>
              <a:buNone/>
              <a:def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それぞれの作業をつなぎ、手間を減らすことを目指します。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E99E8-AAB1-4A8F-9897-3EA9983F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効果は今後検証。時間短縮の実測値はありません。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4223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759BB-5D26-4740-80AB-A232D01C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QuickFlow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B6C61-8AAB-4308-97C5-E35E626D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教師の操作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712AD-69A0-48B5-8857-A64F8EB0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架空データによる操作例 ／ 2026年10月23日 ／ 証拠v3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9CC96-7F37-498F-A974-EC1DBAA0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18227-E969-44CD-B472-18362172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1  PDFを配信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C86DC-FBCD-4F1D-AFC1-D292B21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教材と配信先クラスを指定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83BDA-6845-4706-9C4D-BEBBDA45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2  判定を確認・訂正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455AA-B7B8-4E7F-88D2-0590A6E1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33825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答案とAIの判定を確認し、</a:t>
            </a:r>
          </a:p>
          <a:p xmlns:a="http://schemas.openxmlformats.org/drawingml/2006/main">
            <a:pPr>
              <a:buNone/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必要な問題を訂正して保存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CCC8A-3ECF-489F-B4D1-0CF7DF3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3  Excelで出力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24CB1-8F80-4232-930D-9B0626F1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未提出の空欄と0点を区別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BF72B-9A25-4724-84F8-C7312FE57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3f91bf90745d7"/>
          <a:stretch xmlns:a="http://schemas.openxmlformats.org/drawingml/2006/main"/>
        </p:blipFill>
        <p:spPr>
          <a:xfrm xmlns:a="http://schemas.openxmlformats.org/drawingml/2006/main">
            <a:off x="5259900" y="1762125"/>
            <a:ext cx="5482201" cy="432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0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48033-0A04-4323-AD97-FF080402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QuickFlow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44233-B2B1-44A7-B72E-8C408A95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生徒の操作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C05BE-A344-46B5-883D-A09C999E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架空データによる操作例 ／ 2026年10月23日 ／ 証拠v3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E380F-F9BE-4D80-8F7F-5DAAE512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CFF8A-4F76-435A-8890-CBAFA4F5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PDFに手書きして保存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A6228-E6BD-471F-A4FA-1CC1EEC0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145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保存完了を確認し、再読み込みで復元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B4676-3608-46E9-8870-3880954F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提出後に結果を確認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AB1FE-DAD7-4419-8F28-2FC9F8A1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4575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教師の確認後は最終判定と点数を表示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4BAF0-0955-4D7A-879F-A21F513E19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5cae749274661"/>
          <a:stretch xmlns:a="http://schemas.openxmlformats.org/drawingml/2006/main"/>
        </p:blipFill>
        <p:spPr>
          <a:xfrm xmlns:a="http://schemas.openxmlformats.org/drawingml/2006/main">
            <a:off x="533428" y="2952750"/>
            <a:ext cx="5238695" cy="3098197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159D7-A29C-49D0-AC80-9C9994C57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7ef3ae76942e9"/>
          <a:stretch xmlns:a="http://schemas.openxmlformats.org/drawingml/2006/main"/>
        </p:blipFill>
        <p:spPr>
          <a:xfrm xmlns:a="http://schemas.openxmlformats.org/drawingml/2006/main">
            <a:off x="6362728" y="2952750"/>
            <a:ext cx="5238695" cy="30981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74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9FA31-01A8-4AA5-8B5B-B986FC5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QuickFlow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AE597-34AD-46DD-9948-47E6B7A1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実装と確認の境界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DB414-F6DA-4ACB-A1FF-FEC7C241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架空データによる操作例 ／ 2026年10月23日 ／ 証拠v3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9DB2F-BF22-482C-AB1B-F9B1C32C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1A62C-EEB2-472E-8671-AAAD292D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ブラウザ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C1851-E2F6-40A7-AB49-60BAA7FE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教師・生徒・管理者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5B4E1-D21B-48F7-ABA9-58EC630B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Ruby / Rails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8D80D-ADE0-4F4B-8F22-7A2A55E2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配信・保存・採点ジョブ</a:t>
            </a:r>
          </a:p>
          <a:p xmlns:a="http://schemas.openxmlformats.org/drawingml/2006/main">
            <a:pPr>
              <a:buNone/>
              <a:defRPr sz="18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PDF検証と処理制限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F7F5D-B086-49B3-A481-1460AB6D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7C1DF-07B9-49EF-829D-B4CD82F3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321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小テスト・提出・結果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F90CC-2369-4BF8-B841-EA70ED7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OpenAI連携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354E1-ED10-4F1F-9C40-0A93BD57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794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今回の検証は外部AI境界をテスト用の応答に置換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8258C-F18A-4378-B321-29D7E59D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確認済みの例：権限外アクセス拒否、重複提出の保護、失敗後の復旧</a:t>
            </a:r>
          </a:p>
        </p:txBody>
      </p:sp>
    </p:spTree>
    <p:extLst>
      <p:ext uri="{BB962C8B-B14F-4D97-AF65-F5344CB8AC3E}">
        <p14:creationId xmlns:p14="http://schemas.microsoft.com/office/powerpoint/2010/main" val="354042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19E03-79C3-41BE-84EE-A9391FD3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QuickFlow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E2561-E295-4865-91D8-D0E01F6D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検証状況と次の確認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7EFAF-D226-4B63-A664-5A1F2CD3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架空データによる操作例 ／ 2026年10月23日 ／ 証拠v3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35A2D-30A6-4A41-BCB7-4F17A386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2647B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5AFDD-4150-4C05-9CB4-8D09329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確認できたこと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038F9-7EF2-472E-BB38-7048F7FD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自動検証14例が成功</a:t>
            </a:r>
          </a:p>
          <a:p xmlns:a="http://schemas.openxmlformats.org/drawingml/2006/main">
            <a:pPr>
              <a:buNone/>
              <a:def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既報CI：2,034例、失敗0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87076-8769-4D94-B7B4-81988564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957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管理者の番号変更・取消・削除</a:t>
            </a:r>
          </a:p>
          <a:p xmlns:a="http://schemas.openxmlformats.org/drawingml/2006/main">
            <a:pPr>
              <a:buNone/>
              <a:def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架空データで手動確認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ED40C-F1B1-4C97-82D8-7CF5EBF8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2563EB"/>
                </a:solidFill>
                <a:latin typeface="Noto Sans CJK JP"/>
                <a:ea typeface="Noto Sans CJK JP"/>
                <a:cs typeface="Noto Sans CJK JP"/>
              </a:rPr>
              <a:t>残る確認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0EBD4-B2C6-4B8D-ABFB-C5EF6385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Seleniumの -32000 エラー</a:t>
            </a:r>
          </a:p>
          <a:p xmlns:a="http://schemas.openxmlformats.org/drawingml/2006/main">
            <a:pPr>
              <a:buNone/>
              <a:def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原因未解明、自動検証は未完了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BB105-BDB2-4FB1-B173-D83D385B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実AI・本番運用は未検証</a:t>
            </a:r>
          </a:p>
          <a:p xmlns:a="http://schemas.openxmlformats.org/drawingml/2006/main">
            <a:pPr>
              <a:buNone/>
              <a:def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他ブラウザ・PDF全ページの</a:t>
            </a:r>
          </a:p>
          <a:p xmlns:a="http://schemas.openxmlformats.org/drawingml/2006/main">
            <a:pPr>
              <a:buNone/>
              <a:defRPr sz="2025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表示は未確認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82499-8CB4-44C9-A1CE-6AFFC20E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13213B"/>
                </a:solidFill>
                <a:latin typeface="Noto Sans CJK JP"/>
                <a:ea typeface="Noto Sans CJK JP"/>
                <a:cs typeface="Noto Sans CJK JP"/>
              </a:rPr>
              <a:t>次の段階：自動化エラーと残る運用条件を確認し、小規模な試行を検討</a:t>
            </a:r>
          </a:p>
        </p:txBody>
      </p:sp>
    </p:spTree>
    <p:extLst>
      <p:ext uri="{BB962C8B-B14F-4D97-AF65-F5344CB8AC3E}">
        <p14:creationId xmlns:p14="http://schemas.microsoft.com/office/powerpoint/2010/main" val="1788126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2026-10-23T01:36:04.4810000Z</dcterms:created>
  <dcterms:modified xsi:type="dcterms:W3CDTF">2026-10-23T01:36:04.4810000Z</dcterms:modified>
</coreProperties>
</file>